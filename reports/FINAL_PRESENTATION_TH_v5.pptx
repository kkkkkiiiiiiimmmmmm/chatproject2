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548bfc6dfc24b66" /><Relationship Type="http://schemas.openxmlformats.org/officeDocument/2006/relationships/extended-properties" Target="/docProps/app.xml" Id="Rbeb758a671bd4404" /><Relationship Type="http://schemas.openxmlformats.org/officeDocument/2006/relationships/officeDocument" Target="/ppt/presentation.xml" Id="Rb3518e2d29ea425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de0ab0fd3844aae"/>
  </p:sldMasterIdLst>
  <p:notesMasterIdLst>
    <p:notesMasterId xmlns:r="http://schemas.openxmlformats.org/officeDocument/2006/relationships" r:id="R01fcd3834d254ef2"/>
  </p:notesMasterIdLst>
  <p:sldIdLst>
    <p:sldId xmlns:r="http://schemas.openxmlformats.org/officeDocument/2006/relationships" id="256" r:id="Rc7d6de1cc6604309"/>
    <p:sldId xmlns:r="http://schemas.openxmlformats.org/officeDocument/2006/relationships" id="257" r:id="R190738feae0e4fca"/>
    <p:sldId xmlns:r="http://schemas.openxmlformats.org/officeDocument/2006/relationships" id="258" r:id="R0ca54fd351044c57"/>
    <p:sldId xmlns:r="http://schemas.openxmlformats.org/officeDocument/2006/relationships" id="259" r:id="Ra01bec8b6c924f1a"/>
    <p:sldId xmlns:r="http://schemas.openxmlformats.org/officeDocument/2006/relationships" id="260" r:id="R665ff78b83214298"/>
    <p:sldId xmlns:r="http://schemas.openxmlformats.org/officeDocument/2006/relationships" id="261" r:id="Rbd5c960212a94337"/>
    <p:sldId xmlns:r="http://schemas.openxmlformats.org/officeDocument/2006/relationships" id="262" r:id="Rf5cd3c2880da4c57"/>
    <p:sldId xmlns:r="http://schemas.openxmlformats.org/officeDocument/2006/relationships" id="263" r:id="R14c4eb615c2b4d7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fe204f47d0e4dd0" /><Relationship Type="http://schemas.openxmlformats.org/officeDocument/2006/relationships/slideMaster" Target="/ppt/slideMasters/slideMaster1.xml" Id="R3de0ab0fd3844aae" /><Relationship Type="http://schemas.openxmlformats.org/officeDocument/2006/relationships/notesMaster" Target="/ppt/notesMasters/notesMaster1.xml" Id="R01fcd3834d254ef2" /><Relationship Type="http://schemas.openxmlformats.org/officeDocument/2006/relationships/presProps" Target="/ppt/presProps.xml" Id="Re4996793069c4564" /><Relationship Type="http://schemas.openxmlformats.org/officeDocument/2006/relationships/tableStyles" Target="/ppt/tableStyles.xml" Id="R8026879882484b8d" /><Relationship Type="http://schemas.openxmlformats.org/officeDocument/2006/relationships/slide" Target="/ppt/slides/slide1.xml" Id="Rc7d6de1cc6604309" /><Relationship Type="http://schemas.openxmlformats.org/officeDocument/2006/relationships/slide" Target="/ppt/slides/slide2.xml" Id="R190738feae0e4fca" /><Relationship Type="http://schemas.openxmlformats.org/officeDocument/2006/relationships/slide" Target="/ppt/slides/slide3.xml" Id="R0ca54fd351044c57" /><Relationship Type="http://schemas.openxmlformats.org/officeDocument/2006/relationships/slide" Target="/ppt/slides/slide4.xml" Id="Ra01bec8b6c924f1a" /><Relationship Type="http://schemas.openxmlformats.org/officeDocument/2006/relationships/slide" Target="/ppt/slides/slide5.xml" Id="R665ff78b83214298" /><Relationship Type="http://schemas.openxmlformats.org/officeDocument/2006/relationships/slide" Target="/ppt/slides/slide6.xml" Id="Rbd5c960212a94337" /><Relationship Type="http://schemas.openxmlformats.org/officeDocument/2006/relationships/slide" Target="/ppt/slides/slide7.xml" Id="Rf5cd3c2880da4c57" /><Relationship Type="http://schemas.openxmlformats.org/officeDocument/2006/relationships/slide" Target="/ppt/slides/slide8.xml" Id="R14c4eb615c2b4d7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3e07fb79f2b40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43e41af4c74916" /><Relationship Type="http://schemas.openxmlformats.org/officeDocument/2006/relationships/notesMaster" Target="/ppt/notesMasters/notesMaster1.xml" Id="Rd7c9bee8e031425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c4ecdbd6229496b" /><Relationship Type="http://schemas.openxmlformats.org/officeDocument/2006/relationships/notesMaster" Target="/ppt/notesMasters/notesMaster1.xml" Id="Ra14641be0a974e6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4b3e90291c84194" /><Relationship Type="http://schemas.openxmlformats.org/officeDocument/2006/relationships/notesMaster" Target="/ppt/notesMasters/notesMaster1.xml" Id="Rebc04a1fe070451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a5fbf783cbc417c" /><Relationship Type="http://schemas.openxmlformats.org/officeDocument/2006/relationships/notesMaster" Target="/ppt/notesMasters/notesMaster1.xml" Id="R83a0477b10504e8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2f50890ca794ea0" /><Relationship Type="http://schemas.openxmlformats.org/officeDocument/2006/relationships/notesMaster" Target="/ppt/notesMasters/notesMaster1.xml" Id="R610307e2b77c418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0998ee3529d4add" /><Relationship Type="http://schemas.openxmlformats.org/officeDocument/2006/relationships/notesMaster" Target="/ppt/notesMasters/notesMaster1.xml" Id="Rc52d8bcd2caf41b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7f0d69fb4814852" /><Relationship Type="http://schemas.openxmlformats.org/officeDocument/2006/relationships/notesMaster" Target="/ppt/notesMasters/notesMaster1.xml" Id="R70bda66fd0eb45f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88fea334c304a10" /><Relationship Type="http://schemas.openxmlformats.org/officeDocument/2006/relationships/notesMaster" Target="/ppt/notesMasters/notesMaster1.xml" Id="R3559e74e8d3841f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แหล่งภาพ: data/images/01_bike.jpg ที่สกัดจาก exercise/exercise.pdf ในโครงงาน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ที่มา: exercise/exercise.pdf, data/chunks.json, data/knowledge_graph.json; จำนวนคำนวณจากไฟล์ใน repo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ที่มา: src/dense_retrieval.py, src/graph_retrieval.py, src/hybrid_rag.py, src/llm_engine.py, app.py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ที่มา: data/knowledge_graph.json; AVOID/RECOMMEND เป็นความสัมพันธ์ในกราฟต้นแบบ ยังไม่ผ่านการรับรองทางการแพทย์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ที่มา: การรันจริง 27 ก.ย. 2569 บันทึกใน PROJECT_PROGRESS_REPORT.md; เป็น smoke test หนึ่งครั้ง ไม่ใช่ค่าเฉลี่ย benchmark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ที่มา: results/final_project/summary.json; API cost เป็นตัวเลขที่ OpenRouter ส่งกลับจริง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ที่มา: src/graph_retrieval.py, data/knowledge_graph.json, evaluation/README.md, results/final_project/summary.json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ที่มา: app.py, scripts/evaluate_phase7.py, reports/FINAL_REPORT_TH.md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d7c861808e456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65592979bad4343" /><Relationship Type="http://schemas.openxmlformats.org/officeDocument/2006/relationships/slideLayout" Target="/ppt/slideLayouts/slideLayout1.xml" Id="R0817d68d5be04ef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817d68d5be04ef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53488dcefd4645" /><Relationship Type="http://schemas.openxmlformats.org/officeDocument/2006/relationships/image" Target="/ppt/media/image.jpeg" Id="R6bc2b6f2bf7a453e" /><Relationship Type="http://schemas.openxmlformats.org/officeDocument/2006/relationships/notesSlide" Target="/ppt/notesSlides/notesSlide1.xml" Id="R0762842722cc44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c623f19a67485c" /><Relationship Type="http://schemas.openxmlformats.org/officeDocument/2006/relationships/notesSlide" Target="/ppt/notesSlides/notesSlide2.xml" Id="Rbafcc03e4ed2469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e4d40ba05f45ce" /><Relationship Type="http://schemas.openxmlformats.org/officeDocument/2006/relationships/notesSlide" Target="/ppt/notesSlides/notesSlide3.xml" Id="Rd316e64ae8d8475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d926f8d91445d8" /><Relationship Type="http://schemas.openxmlformats.org/officeDocument/2006/relationships/notesSlide" Target="/ppt/notesSlides/notesSlide4.xml" Id="Rd898e20c23f6427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7bc474986547b0" /><Relationship Type="http://schemas.openxmlformats.org/officeDocument/2006/relationships/notesSlide" Target="/ppt/notesSlides/notesSlide5.xml" Id="R09d2fbdc2fab413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82640438664f08" /><Relationship Type="http://schemas.openxmlformats.org/officeDocument/2006/relationships/notesSlide" Target="/ppt/notesSlides/notesSlide6.xml" Id="R9611699da68b4cd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3ab2869a3943f0" /><Relationship Type="http://schemas.openxmlformats.org/officeDocument/2006/relationships/notesSlide" Target="/ppt/notesSlides/notesSlide7.xml" Id="R088f4cb0c760496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2f063fd30b4ca9" /><Relationship Type="http://schemas.openxmlformats.org/officeDocument/2006/relationships/notesSlide" Target="/ppt/notesSlides/notesSlide8.xml" Id="R6fcb7d9d076f412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0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90D6D326-B637-40F0-B9E4-FDF1432BA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62050"/>
            <a:ext cx="6953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40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ผู้ช่วยการออกกำลังกาย</a:t>
            </a:r>
          </a:p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40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ด้วย Hybrid RAG</a:t>
            </a:r>
          </a:p>
        </p:txBody>
      </p:sp>
      <p:sp>
        <p:nvSpPr>
          <p:cNvPr id="2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AEF4E7A6-A380-418D-82D0-1117B3908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676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C8DDE9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C8DDE9"/>
                </a:solidFill>
                <a:latin typeface="Tahoma"/>
                <a:ea typeface="Tahoma"/>
                <a:cs typeface="Tahoma"/>
              </a:rPr>
              <a:t>Final Project · คู่มือสถานกีฬาและสุขภาพ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c2b6f2bf7a453e"/>
          <a:srcRect xmlns:a="http://schemas.openxmlformats.org/drawingml/2006/main" l="0" t="415" r="0" b="4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5400000">
            <a:off x="7143750" y="1619250"/>
            <a:ext cx="4953000" cy="3571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4160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46F0E79B-44BF-4B55-A207-92700FF56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02B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4202B"/>
                </a:solidFill>
                <a:latin typeface="Tahoma"/>
                <a:ea typeface="Tahoma"/>
                <a:cs typeface="Tahoma"/>
              </a:rPr>
              <a:t>ข้อมูลจากคู่มือ</a:t>
            </a:r>
          </a:p>
        </p:txBody>
      </p:sp>
      <p:sp>
        <p:nvSpPr>
          <p:cNvPr id="2" name="label-175">
            <a:extLst xmlns:a="http://schemas.openxmlformats.org/drawingml/2006/main">
              <a:ext uri="{FF2B5EF4-FFF2-40B4-BE49-F238E27FC236}">
                <a16:creationId xmlns:a16="http://schemas.microsoft.com/office/drawing/2014/main" id="{12DBF9D4-7C3D-4FA4-B88A-C085F647B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56675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556675"/>
                </a:solidFill>
                <a:latin typeface="Tahoma"/>
                <a:ea typeface="Tahoma"/>
                <a:cs typeface="Tahoma"/>
              </a:rPr>
              <a:t>ข้อความสำหรับค้นหา</a:t>
            </a:r>
          </a:p>
        </p:txBody>
      </p:sp>
      <p:sp>
        <p:nvSpPr>
          <p:cNvPr id="3" name="value-175">
            <a:extLst xmlns:a="http://schemas.openxmlformats.org/drawingml/2006/main">
              <a:ext uri="{FF2B5EF4-FFF2-40B4-BE49-F238E27FC236}">
                <a16:creationId xmlns:a16="http://schemas.microsoft.com/office/drawing/2014/main" id="{F12D7DDA-4CE2-4910-8F50-A33654308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666875"/>
            <a:ext cx="657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7609B"/>
                </a:solidFill>
                <a:latin typeface="Tahoma"/>
                <a:ea typeface="Tahoma"/>
                <a:cs typeface="Tahoma"/>
              </a:defRPr>
            </a:pPr>
            <a:r>
              <a:rPr sz="2475" b="1">
                <a:solidFill>
                  <a:srgbClr val="17609B"/>
                </a:solidFill>
                <a:latin typeface="Tahoma"/>
                <a:ea typeface="Tahoma"/>
                <a:cs typeface="Tahoma"/>
              </a:rPr>
              <a:t>44 chunks</a:t>
            </a:r>
          </a:p>
        </p:txBody>
      </p:sp>
      <p:sp>
        <p:nvSpPr>
          <p:cNvPr id="4" name="label-278">
            <a:extLst xmlns:a="http://schemas.openxmlformats.org/drawingml/2006/main">
              <a:ext uri="{FF2B5EF4-FFF2-40B4-BE49-F238E27FC236}">
                <a16:creationId xmlns:a16="http://schemas.microsoft.com/office/drawing/2014/main" id="{0A41DA76-B0F1-44A6-B79B-F174D6C08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56675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556675"/>
                </a:solidFill>
                <a:latin typeface="Tahoma"/>
                <a:ea typeface="Tahoma"/>
                <a:cs typeface="Tahoma"/>
              </a:rPr>
              <a:t>ภาพประกอบ</a:t>
            </a:r>
          </a:p>
        </p:txBody>
      </p:sp>
      <p:sp>
        <p:nvSpPr>
          <p:cNvPr id="5" name="value-278">
            <a:extLst xmlns:a="http://schemas.openxmlformats.org/drawingml/2006/main">
              <a:ext uri="{FF2B5EF4-FFF2-40B4-BE49-F238E27FC236}">
                <a16:creationId xmlns:a16="http://schemas.microsoft.com/office/drawing/2014/main" id="{70C8A461-EE80-4C29-AB04-BEF90BD60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647950"/>
            <a:ext cx="657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7609B"/>
                </a:solidFill>
                <a:latin typeface="Tahoma"/>
                <a:ea typeface="Tahoma"/>
                <a:cs typeface="Tahoma"/>
              </a:defRPr>
            </a:pPr>
            <a:r>
              <a:rPr sz="2475" b="1">
                <a:solidFill>
                  <a:srgbClr val="17609B"/>
                </a:solidFill>
                <a:latin typeface="Tahoma"/>
                <a:ea typeface="Tahoma"/>
                <a:cs typeface="Tahoma"/>
              </a:rPr>
              <a:t>40 ภาพ</a:t>
            </a:r>
          </a:p>
        </p:txBody>
      </p:sp>
      <p:sp>
        <p:nvSpPr>
          <p:cNvPr id="6" name="label-381">
            <a:extLst xmlns:a="http://schemas.openxmlformats.org/drawingml/2006/main">
              <a:ext uri="{FF2B5EF4-FFF2-40B4-BE49-F238E27FC236}">
                <a16:creationId xmlns:a16="http://schemas.microsoft.com/office/drawing/2014/main" id="{028078A7-68DC-492E-A331-13A1B7369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29025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56675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556675"/>
                </a:solidFill>
                <a:latin typeface="Tahoma"/>
                <a:ea typeface="Tahoma"/>
                <a:cs typeface="Tahoma"/>
              </a:rPr>
              <a:t>ความรู้แบบกราฟ</a:t>
            </a:r>
          </a:p>
        </p:txBody>
      </p:sp>
      <p:sp>
        <p:nvSpPr>
          <p:cNvPr id="7" name="value-381">
            <a:extLst xmlns:a="http://schemas.openxmlformats.org/drawingml/2006/main">
              <a:ext uri="{FF2B5EF4-FFF2-40B4-BE49-F238E27FC236}">
                <a16:creationId xmlns:a16="http://schemas.microsoft.com/office/drawing/2014/main" id="{B6A95D02-DCCA-4C08-A532-B8E777D20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629025"/>
            <a:ext cx="657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7609B"/>
                </a:solidFill>
                <a:latin typeface="Tahoma"/>
                <a:ea typeface="Tahoma"/>
                <a:cs typeface="Tahoma"/>
              </a:defRPr>
            </a:pPr>
            <a:r>
              <a:rPr sz="2475" b="1">
                <a:solidFill>
                  <a:srgbClr val="17609B"/>
                </a:solidFill>
                <a:latin typeface="Tahoma"/>
                <a:ea typeface="Tahoma"/>
                <a:cs typeface="Tahoma"/>
              </a:rPr>
              <a:t>145 nodes / 221 relations</a:t>
            </a:r>
          </a:p>
        </p:txBody>
      </p:sp>
      <p:sp>
        <p:nvSpPr>
          <p:cNvPr id="8" name="data-note">
            <a:extLst xmlns:a="http://schemas.openxmlformats.org/drawingml/2006/main">
              <a:ext uri="{FF2B5EF4-FFF2-40B4-BE49-F238E27FC236}">
                <a16:creationId xmlns:a16="http://schemas.microsoft.com/office/drawing/2014/main" id="{70621767-E0ED-4728-8CE4-72A7F5AFD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6675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556675"/>
                </a:solidFill>
                <a:latin typeface="Tahoma"/>
                <a:ea typeface="Tahoma"/>
                <a:cs typeface="Tahoma"/>
              </a:rPr>
              <a:t>การจัด chunks และความสัมพันธ์เป็นข้อมูลของโครงงาน ต้องตรวจทานความถูกต้องก่อนใช้งานจริง</a:t>
            </a:r>
          </a:p>
        </p:txBody>
      </p:sp>
    </p:spTree>
    <p:extLst>
      <p:ext uri="{BB962C8B-B14F-4D97-AF65-F5344CB8AC3E}">
        <p14:creationId xmlns:p14="http://schemas.microsoft.com/office/powerpoint/2010/main" val="4470943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">
            <a:extLst xmlns:a="http://schemas.openxmlformats.org/drawingml/2006/main">
              <a:ext uri="{FF2B5EF4-FFF2-40B4-BE49-F238E27FC236}">
                <a16:creationId xmlns:a16="http://schemas.microsoft.com/office/drawing/2014/main" id="{84AD8E9C-DE36-42AD-906A-2D37A9BFC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02B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4202B"/>
                </a:solidFill>
                <a:latin typeface="Tahoma"/>
                <a:ea typeface="Tahoma"/>
                <a:cs typeface="Tahoma"/>
              </a:rPr>
              <a:t>สถาปัตยกรรมระบบ</a:t>
            </a:r>
          </a:p>
        </p:txBody>
      </p:sp>
      <p:sp>
        <p:nvSpPr>
          <p:cNvPr id="2" name="step-75">
            <a:extLst xmlns:a="http://schemas.openxmlformats.org/drawingml/2006/main">
              <a:ext uri="{FF2B5EF4-FFF2-40B4-BE49-F238E27FC236}">
                <a16:creationId xmlns:a16="http://schemas.microsoft.com/office/drawing/2014/main" id="{57ED0434-E939-4D0F-9805-AB6C7690C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66950"/>
            <a:ext cx="16764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19050">
            <a:solidFill>
              <a:srgbClr val="17609B"/>
            </a:solidFill>
          </a:ln>
        </p:spPr>
      </p:sp>
      <p:sp>
        <p:nvSpPr>
          <p:cNvPr id="3" name="text-75">
            <a:extLst xmlns:a="http://schemas.openxmlformats.org/drawingml/2006/main">
              <a:ext uri="{FF2B5EF4-FFF2-40B4-BE49-F238E27FC236}">
                <a16:creationId xmlns:a16="http://schemas.microsoft.com/office/drawing/2014/main" id="{30C70CC4-78DD-4A7E-AAEA-C7647429E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505075"/>
            <a:ext cx="14573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02B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4202B"/>
                </a:solidFill>
                <a:latin typeface="Tahoma"/>
                <a:ea typeface="Tahoma"/>
                <a:cs typeface="Tahoma"/>
              </a:rPr>
              <a:t>คำถาม</a:t>
            </a:r>
          </a:p>
        </p:txBody>
      </p:sp>
      <p:sp>
        <p:nvSpPr>
          <p:cNvPr id="4" name="step-285">
            <a:extLst xmlns:a="http://schemas.openxmlformats.org/drawingml/2006/main">
              <a:ext uri="{FF2B5EF4-FFF2-40B4-BE49-F238E27FC236}">
                <a16:creationId xmlns:a16="http://schemas.microsoft.com/office/drawing/2014/main" id="{E6275A22-C1B7-4DFD-B53B-A1DEBC18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266950"/>
            <a:ext cx="16764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19050">
            <a:solidFill>
              <a:srgbClr val="17609B"/>
            </a:solidFill>
          </a:ln>
        </p:spPr>
      </p:sp>
      <p:sp>
        <p:nvSpPr>
          <p:cNvPr id="5" name="text-285">
            <a:extLst xmlns:a="http://schemas.openxmlformats.org/drawingml/2006/main">
              <a:ext uri="{FF2B5EF4-FFF2-40B4-BE49-F238E27FC236}">
                <a16:creationId xmlns:a16="http://schemas.microsoft.com/office/drawing/2014/main" id="{FB6394D2-413E-4350-976B-F0F0892FC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505075"/>
            <a:ext cx="14573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02B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4202B"/>
                </a:solidFill>
                <a:latin typeface="Tahoma"/>
                <a:ea typeface="Tahoma"/>
                <a:cs typeface="Tahoma"/>
              </a:rPr>
              <a:t>Query Router</a:t>
            </a:r>
          </a:p>
        </p:txBody>
      </p:sp>
      <p:sp>
        <p:nvSpPr>
          <p:cNvPr id="6" name="step-520">
            <a:extLst xmlns:a="http://schemas.openxmlformats.org/drawingml/2006/main">
              <a:ext uri="{FF2B5EF4-FFF2-40B4-BE49-F238E27FC236}">
                <a16:creationId xmlns:a16="http://schemas.microsoft.com/office/drawing/2014/main" id="{82A0FAE3-9CEE-4176-A4CB-7A3163D0B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66950"/>
            <a:ext cx="16764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19050">
            <a:solidFill>
              <a:srgbClr val="17609B"/>
            </a:solidFill>
          </a:ln>
        </p:spPr>
      </p:sp>
      <p:sp>
        <p:nvSpPr>
          <p:cNvPr id="7" name="text-520">
            <a:extLst xmlns:a="http://schemas.openxmlformats.org/drawingml/2006/main">
              <a:ext uri="{FF2B5EF4-FFF2-40B4-BE49-F238E27FC236}">
                <a16:creationId xmlns:a16="http://schemas.microsoft.com/office/drawing/2014/main" id="{D111EE55-9B4F-49B2-B21B-A6E0915B9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505075"/>
            <a:ext cx="14573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02B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4202B"/>
                </a:solidFill>
                <a:latin typeface="Tahoma"/>
                <a:ea typeface="Tahoma"/>
                <a:cs typeface="Tahoma"/>
              </a:rPr>
              <a:t>Dense + Graph</a:t>
            </a:r>
          </a:p>
        </p:txBody>
      </p:sp>
      <p:sp>
        <p:nvSpPr>
          <p:cNvPr id="8" name="step-760">
            <a:extLst xmlns:a="http://schemas.openxmlformats.org/drawingml/2006/main">
              <a:ext uri="{FF2B5EF4-FFF2-40B4-BE49-F238E27FC236}">
                <a16:creationId xmlns:a16="http://schemas.microsoft.com/office/drawing/2014/main" id="{E02B84FF-86BD-42CA-8896-7B835AD87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66950"/>
            <a:ext cx="16764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19050">
            <a:solidFill>
              <a:srgbClr val="17609B"/>
            </a:solidFill>
          </a:ln>
        </p:spPr>
      </p:sp>
      <p:sp>
        <p:nvSpPr>
          <p:cNvPr id="9" name="text-760">
            <a:extLst xmlns:a="http://schemas.openxmlformats.org/drawingml/2006/main">
              <a:ext uri="{FF2B5EF4-FFF2-40B4-BE49-F238E27FC236}">
                <a16:creationId xmlns:a16="http://schemas.microsoft.com/office/drawing/2014/main" id="{F1AA7F34-25F0-46A9-816F-B61B0C110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505075"/>
            <a:ext cx="14573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02B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4202B"/>
                </a:solidFill>
                <a:latin typeface="Tahoma"/>
                <a:ea typeface="Tahoma"/>
                <a:cs typeface="Tahoma"/>
              </a:rPr>
              <a:t>RRF + Safety</a:t>
            </a:r>
          </a:p>
        </p:txBody>
      </p:sp>
      <p:sp>
        <p:nvSpPr>
          <p:cNvPr id="10" name="step-1005">
            <a:extLst xmlns:a="http://schemas.openxmlformats.org/drawingml/2006/main">
              <a:ext uri="{FF2B5EF4-FFF2-40B4-BE49-F238E27FC236}">
                <a16:creationId xmlns:a16="http://schemas.microsoft.com/office/drawing/2014/main" id="{FD74894C-110D-4BE5-AE79-1691DCA06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266950"/>
            <a:ext cx="16764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19050">
            <a:solidFill>
              <a:srgbClr val="17609B"/>
            </a:solidFill>
          </a:ln>
        </p:spPr>
      </p:sp>
      <p:sp>
        <p:nvSpPr>
          <p:cNvPr id="11" name="text-1005">
            <a:extLst xmlns:a="http://schemas.openxmlformats.org/drawingml/2006/main">
              <a:ext uri="{FF2B5EF4-FFF2-40B4-BE49-F238E27FC236}">
                <a16:creationId xmlns:a16="http://schemas.microsoft.com/office/drawing/2014/main" id="{B314D183-0130-4168-ADE8-281DF7ADA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2505075"/>
            <a:ext cx="14573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02B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4202B"/>
                </a:solidFill>
                <a:latin typeface="Tahoma"/>
                <a:ea typeface="Tahoma"/>
                <a:cs typeface="Tahoma"/>
              </a:rPr>
              <a:t>LLM</a:t>
            </a:r>
          </a:p>
        </p:txBody>
      </p:sp>
      <p:sp>
        <p:nvSpPr>
          <p:cNvPr id="12" name="arrow-250">
            <a:extLst xmlns:a="http://schemas.openxmlformats.org/drawingml/2006/main">
              <a:ext uri="{FF2B5EF4-FFF2-40B4-BE49-F238E27FC236}">
                <a16:creationId xmlns:a16="http://schemas.microsoft.com/office/drawing/2014/main" id="{7F938BC6-C88F-4069-8A60-61F09901E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466975"/>
            <a:ext cx="571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7A75"/>
                </a:solidFill>
                <a:latin typeface="Tahoma"/>
                <a:ea typeface="Tahoma"/>
                <a:cs typeface="Tahoma"/>
              </a:defRPr>
            </a:pPr>
            <a:r>
              <a:rPr sz="2850" b="1">
                <a:solidFill>
                  <a:srgbClr val="117A75"/>
                </a:solidFill>
                <a:latin typeface="Tahoma"/>
                <a:ea typeface="Tahoma"/>
                <a:cs typeface="Tahoma"/>
              </a:rPr>
              <a:t>→</a:t>
            </a:r>
          </a:p>
        </p:txBody>
      </p:sp>
      <p:sp>
        <p:nvSpPr>
          <p:cNvPr id="13" name="arrow-460">
            <a:extLst xmlns:a="http://schemas.openxmlformats.org/drawingml/2006/main">
              <a:ext uri="{FF2B5EF4-FFF2-40B4-BE49-F238E27FC236}">
                <a16:creationId xmlns:a16="http://schemas.microsoft.com/office/drawing/2014/main" id="{B5367682-995F-4082-B0F9-0FDCDDB66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66975"/>
            <a:ext cx="571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7A75"/>
                </a:solidFill>
                <a:latin typeface="Tahoma"/>
                <a:ea typeface="Tahoma"/>
                <a:cs typeface="Tahoma"/>
              </a:defRPr>
            </a:pPr>
            <a:r>
              <a:rPr sz="2850" b="1">
                <a:solidFill>
                  <a:srgbClr val="117A75"/>
                </a:solidFill>
                <a:latin typeface="Tahoma"/>
                <a:ea typeface="Tahoma"/>
                <a:cs typeface="Tahoma"/>
              </a:rPr>
              <a:t>→</a:t>
            </a:r>
          </a:p>
        </p:txBody>
      </p:sp>
      <p:sp>
        <p:nvSpPr>
          <p:cNvPr id="14" name="arrow-695">
            <a:extLst xmlns:a="http://schemas.openxmlformats.org/drawingml/2006/main">
              <a:ext uri="{FF2B5EF4-FFF2-40B4-BE49-F238E27FC236}">
                <a16:creationId xmlns:a16="http://schemas.microsoft.com/office/drawing/2014/main" id="{C6FAE7D6-1249-4CB8-80D1-41DD0C510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466975"/>
            <a:ext cx="571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7A75"/>
                </a:solidFill>
                <a:latin typeface="Tahoma"/>
                <a:ea typeface="Tahoma"/>
                <a:cs typeface="Tahoma"/>
              </a:defRPr>
            </a:pPr>
            <a:r>
              <a:rPr sz="2850" b="1">
                <a:solidFill>
                  <a:srgbClr val="117A75"/>
                </a:solidFill>
                <a:latin typeface="Tahoma"/>
                <a:ea typeface="Tahoma"/>
                <a:cs typeface="Tahoma"/>
              </a:rPr>
              <a:t>→</a:t>
            </a:r>
          </a:p>
        </p:txBody>
      </p:sp>
      <p:sp>
        <p:nvSpPr>
          <p:cNvPr id="15" name="arrow-940">
            <a:extLst xmlns:a="http://schemas.openxmlformats.org/drawingml/2006/main">
              <a:ext uri="{FF2B5EF4-FFF2-40B4-BE49-F238E27FC236}">
                <a16:creationId xmlns:a16="http://schemas.microsoft.com/office/drawing/2014/main" id="{147A654C-5ED2-4876-9513-2476A2369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466975"/>
            <a:ext cx="571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7A75"/>
                </a:solidFill>
                <a:latin typeface="Tahoma"/>
                <a:ea typeface="Tahoma"/>
                <a:cs typeface="Tahoma"/>
              </a:defRPr>
            </a:pPr>
            <a:r>
              <a:rPr sz="2850" b="1">
                <a:solidFill>
                  <a:srgbClr val="117A75"/>
                </a:solidFill>
                <a:latin typeface="Tahoma"/>
                <a:ea typeface="Tahoma"/>
                <a:cs typeface="Tahoma"/>
              </a:rPr>
              <a:t>→</a:t>
            </a:r>
          </a:p>
        </p:txBody>
      </p:sp>
      <p:sp>
        <p:nvSpPr>
          <p:cNvPr id="16" name="architecture-note">
            <a:extLst xmlns:a="http://schemas.openxmlformats.org/drawingml/2006/main">
              <a:ext uri="{FF2B5EF4-FFF2-40B4-BE49-F238E27FC236}">
                <a16:creationId xmlns:a16="http://schemas.microsoft.com/office/drawing/2014/main" id="{CD06E345-CA42-4312-8A2C-2F66CDE79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56675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556675"/>
                </a:solidFill>
                <a:latin typeface="Tahoma"/>
                <a:ea typeface="Tahoma"/>
                <a:cs typeface="Tahoma"/>
              </a:rPr>
              <a:t>คำตอบส่งกลับพร้อมชื่อท่า เลขหน้า ภาพประกอบ และเวลาในการทำงาน</a:t>
            </a:r>
          </a:p>
        </p:txBody>
      </p:sp>
    </p:spTree>
    <p:extLst>
      <p:ext uri="{BB962C8B-B14F-4D97-AF65-F5344CB8AC3E}">
        <p14:creationId xmlns:p14="http://schemas.microsoft.com/office/powerpoint/2010/main" val="6499654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2BB33D9C-F9F2-4475-BBDD-FC4FB204C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02B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4202B"/>
                </a:solidFill>
                <a:latin typeface="Tahoma"/>
                <a:ea typeface="Tahoma"/>
                <a:cs typeface="Tahoma"/>
              </a:rPr>
              <a:t>ตัวอย่างความสัมพันธ์ในกราฟ</a:t>
            </a:r>
          </a:p>
        </p:txBody>
      </p:sp>
      <p:sp>
        <p:nvSpPr>
          <p:cNvPr id="2" name="AVOID  →-left">
            <a:extLst xmlns:a="http://schemas.openxmlformats.org/drawingml/2006/main">
              <a:ext uri="{FF2B5EF4-FFF2-40B4-BE49-F238E27FC236}">
                <a16:creationId xmlns:a16="http://schemas.microsoft.com/office/drawing/2014/main" id="{198EAF98-AA09-4F06-B71D-C2B34AD39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38300"/>
            <a:ext cx="3810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202B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14202B"/>
                </a:solidFill>
                <a:latin typeface="Tahoma"/>
                <a:ea typeface="Tahoma"/>
                <a:cs typeface="Tahoma"/>
              </a:rPr>
              <a:t>ปวดข้อเข่า</a:t>
            </a:r>
          </a:p>
        </p:txBody>
      </p:sp>
      <p:sp>
        <p:nvSpPr>
          <p:cNvPr id="3" name="AVOID  →-type">
            <a:extLst xmlns:a="http://schemas.openxmlformats.org/drawingml/2006/main">
              <a:ext uri="{FF2B5EF4-FFF2-40B4-BE49-F238E27FC236}">
                <a16:creationId xmlns:a16="http://schemas.microsoft.com/office/drawing/2014/main" id="{E6069EC2-A591-45D3-9538-AC73FBDA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6954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34646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B34646"/>
                </a:solidFill>
                <a:latin typeface="Tahoma"/>
                <a:ea typeface="Tahoma"/>
                <a:cs typeface="Tahoma"/>
              </a:rPr>
              <a:t>AVOID  →</a:t>
            </a:r>
          </a:p>
        </p:txBody>
      </p:sp>
      <p:sp>
        <p:nvSpPr>
          <p:cNvPr id="4" name="AVOID  →-right">
            <a:extLst xmlns:a="http://schemas.openxmlformats.org/drawingml/2006/main">
              <a:ext uri="{FF2B5EF4-FFF2-40B4-BE49-F238E27FC236}">
                <a16:creationId xmlns:a16="http://schemas.microsoft.com/office/drawing/2014/main" id="{8CC8CD88-A1AF-4B54-B10F-E67D3B5D7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38300"/>
            <a:ext cx="4238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202B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14202B"/>
                </a:solidFill>
                <a:latin typeface="Tahoma"/>
                <a:ea typeface="Tahoma"/>
                <a:cs typeface="Tahoma"/>
              </a:rPr>
              <a:t>Leg press</a:t>
            </a:r>
          </a:p>
        </p:txBody>
      </p:sp>
      <p:sp>
        <p:nvSpPr>
          <p:cNvPr id="5" name="RECOMMEND  →-left">
            <a:extLst xmlns:a="http://schemas.openxmlformats.org/drawingml/2006/main">
              <a:ext uri="{FF2B5EF4-FFF2-40B4-BE49-F238E27FC236}">
                <a16:creationId xmlns:a16="http://schemas.microsoft.com/office/drawing/2014/main" id="{18CA40FA-3FD4-411F-810B-6488519A1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24175"/>
            <a:ext cx="3810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202B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14202B"/>
                </a:solidFill>
                <a:latin typeface="Tahoma"/>
                <a:ea typeface="Tahoma"/>
                <a:cs typeface="Tahoma"/>
              </a:rPr>
              <a:t>ปวดข้อเข่า</a:t>
            </a:r>
          </a:p>
        </p:txBody>
      </p:sp>
      <p:sp>
        <p:nvSpPr>
          <p:cNvPr id="6" name="RECOMMEND  →-type">
            <a:extLst xmlns:a="http://schemas.openxmlformats.org/drawingml/2006/main">
              <a:ext uri="{FF2B5EF4-FFF2-40B4-BE49-F238E27FC236}">
                <a16:creationId xmlns:a16="http://schemas.microsoft.com/office/drawing/2014/main" id="{B55497F6-E371-4068-B826-47F76CE8B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981325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7A75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17A75"/>
                </a:solidFill>
                <a:latin typeface="Tahoma"/>
                <a:ea typeface="Tahoma"/>
                <a:cs typeface="Tahoma"/>
              </a:rPr>
              <a:t>RECOMMEND  →</a:t>
            </a:r>
          </a:p>
        </p:txBody>
      </p:sp>
      <p:sp>
        <p:nvSpPr>
          <p:cNvPr id="7" name="RECOMMEND  →-right">
            <a:extLst xmlns:a="http://schemas.openxmlformats.org/drawingml/2006/main">
              <a:ext uri="{FF2B5EF4-FFF2-40B4-BE49-F238E27FC236}">
                <a16:creationId xmlns:a16="http://schemas.microsoft.com/office/drawing/2014/main" id="{4ABCF561-B18B-498B-B297-2D388406D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24175"/>
            <a:ext cx="4238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202B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14202B"/>
                </a:solidFill>
                <a:latin typeface="Tahoma"/>
                <a:ea typeface="Tahoma"/>
                <a:cs typeface="Tahoma"/>
              </a:rPr>
              <a:t>จักรยานคอมพิวเตอร์</a:t>
            </a:r>
          </a:p>
        </p:txBody>
      </p:sp>
      <p:sp>
        <p:nvSpPr>
          <p:cNvPr id="8" name="graph-disclosure">
            <a:extLst xmlns:a="http://schemas.openxmlformats.org/drawingml/2006/main">
              <a:ext uri="{FF2B5EF4-FFF2-40B4-BE49-F238E27FC236}">
                <a16:creationId xmlns:a16="http://schemas.microsoft.com/office/drawing/2014/main" id="{3B637C5B-4478-4B2F-AEEB-55E658090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00625"/>
            <a:ext cx="10572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6675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556675"/>
                </a:solidFill>
                <a:latin typeface="Tahoma"/>
                <a:ea typeface="Tahoma"/>
                <a:cs typeface="Tahoma"/>
              </a:rPr>
              <a:t>ตัวอย่างนี้แสดงความสามารถค้นความสัมพันธ์ ข้อแนะนำเรื่องอาการบาดเจ็บต้องตรวจโดยผู้เชี่ยวชาญ</a:t>
            </a:r>
          </a:p>
        </p:txBody>
      </p:sp>
    </p:spTree>
    <p:extLst>
      <p:ext uri="{BB962C8B-B14F-4D97-AF65-F5344CB8AC3E}">
        <p14:creationId xmlns:p14="http://schemas.microsoft.com/office/powerpoint/2010/main" val="10522618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696EFA79-878B-417D-8B47-560F40EE1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02B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4202B"/>
                </a:solidFill>
                <a:latin typeface="Tahoma"/>
                <a:ea typeface="Tahoma"/>
                <a:cs typeface="Tahoma"/>
              </a:rPr>
              <a:t>ตัวอย่างเดโม Local LLM</a:t>
            </a:r>
          </a:p>
        </p:txBody>
      </p:sp>
      <p:sp>
        <p:nvSpPr>
          <p:cNvPr id="2" name="demo-query">
            <a:extLst xmlns:a="http://schemas.openxmlformats.org/drawingml/2006/main">
              <a:ext uri="{FF2B5EF4-FFF2-40B4-BE49-F238E27FC236}">
                <a16:creationId xmlns:a16="http://schemas.microsoft.com/office/drawing/2014/main" id="{A6860BC7-CD6F-4C47-8DA1-4B09D775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10572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202B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4202B"/>
                </a:solidFill>
                <a:latin typeface="Tahoma"/>
                <a:ea typeface="Tahoma"/>
                <a:cs typeface="Tahoma"/>
              </a:rPr>
              <a:t>คำถาม: ปวดเข่าควรหลีกเลี่ยงท่าไหน และมีท่าไหนทดแทน</a:t>
            </a:r>
          </a:p>
        </p:txBody>
      </p:sp>
      <p:sp>
        <p:nvSpPr>
          <p:cNvPr id="3" name="label-290">
            <a:extLst xmlns:a="http://schemas.openxmlformats.org/drawingml/2006/main">
              <a:ext uri="{FF2B5EF4-FFF2-40B4-BE49-F238E27FC236}">
                <a16:creationId xmlns:a16="http://schemas.microsoft.com/office/drawing/2014/main" id="{A20EDA74-4083-4919-98C0-279FCD606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56675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556675"/>
                </a:solidFill>
                <a:latin typeface="Tahoma"/>
                <a:ea typeface="Tahoma"/>
                <a:cs typeface="Tahoma"/>
              </a:rPr>
              <a:t>โมเดล</a:t>
            </a:r>
          </a:p>
        </p:txBody>
      </p:sp>
      <p:sp>
        <p:nvSpPr>
          <p:cNvPr id="4" name="value-290">
            <a:extLst xmlns:a="http://schemas.openxmlformats.org/drawingml/2006/main">
              <a:ext uri="{FF2B5EF4-FFF2-40B4-BE49-F238E27FC236}">
                <a16:creationId xmlns:a16="http://schemas.microsoft.com/office/drawing/2014/main" id="{0937AEAC-FC75-46D1-8B4C-BD4B032BC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762250"/>
            <a:ext cx="657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17A75"/>
                </a:solidFill>
                <a:latin typeface="Tahoma"/>
                <a:ea typeface="Tahoma"/>
                <a:cs typeface="Tahoma"/>
              </a:defRPr>
            </a:pPr>
            <a:r>
              <a:rPr sz="2475" b="1">
                <a:solidFill>
                  <a:srgbClr val="117A75"/>
                </a:solidFill>
                <a:latin typeface="Tahoma"/>
                <a:ea typeface="Tahoma"/>
                <a:cs typeface="Tahoma"/>
              </a:rPr>
              <a:t>Qwen2.5 3B ผ่าน Ollama</a:t>
            </a:r>
          </a:p>
        </p:txBody>
      </p:sp>
      <p:sp>
        <p:nvSpPr>
          <p:cNvPr id="5" name="label-385">
            <a:extLst xmlns:a="http://schemas.openxmlformats.org/drawingml/2006/main">
              <a:ext uri="{FF2B5EF4-FFF2-40B4-BE49-F238E27FC236}">
                <a16:creationId xmlns:a16="http://schemas.microsoft.com/office/drawing/2014/main" id="{4E229E74-A159-4C09-A03C-F9AA0B726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56675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556675"/>
                </a:solidFill>
                <a:latin typeface="Tahoma"/>
                <a:ea typeface="Tahoma"/>
                <a:cs typeface="Tahoma"/>
              </a:rPr>
              <a:t>เวลาในรอบทดสอบ</a:t>
            </a:r>
          </a:p>
        </p:txBody>
      </p:sp>
      <p:sp>
        <p:nvSpPr>
          <p:cNvPr id="6" name="value-385">
            <a:extLst xmlns:a="http://schemas.openxmlformats.org/drawingml/2006/main">
              <a:ext uri="{FF2B5EF4-FFF2-40B4-BE49-F238E27FC236}">
                <a16:creationId xmlns:a16="http://schemas.microsoft.com/office/drawing/2014/main" id="{E0B6830F-048D-4E00-8C14-E182C03E7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667125"/>
            <a:ext cx="657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17A75"/>
                </a:solidFill>
                <a:latin typeface="Tahoma"/>
                <a:ea typeface="Tahoma"/>
                <a:cs typeface="Tahoma"/>
              </a:defRPr>
            </a:pPr>
            <a:r>
              <a:rPr sz="2475" b="1">
                <a:solidFill>
                  <a:srgbClr val="117A75"/>
                </a:solidFill>
                <a:latin typeface="Tahoma"/>
                <a:ea typeface="Tahoma"/>
                <a:cs typeface="Tahoma"/>
              </a:rPr>
              <a:t>5.6 วินาที</a:t>
            </a:r>
          </a:p>
        </p:txBody>
      </p:sp>
      <p:sp>
        <p:nvSpPr>
          <p:cNvPr id="7" name="demo-source">
            <a:extLst xmlns:a="http://schemas.openxmlformats.org/drawingml/2006/main">
              <a:ext uri="{FF2B5EF4-FFF2-40B4-BE49-F238E27FC236}">
                <a16:creationId xmlns:a16="http://schemas.microsoft.com/office/drawing/2014/main" id="{923673C2-BB3F-483C-BD1E-524460640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95300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56675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556675"/>
                </a:solidFill>
                <a:latin typeface="Tahoma"/>
                <a:ea typeface="Tahoma"/>
                <a:cs typeface="Tahoma"/>
              </a:rPr>
              <a:t>แหล่งข้อมูลที่แสดง: หน้า 6, 8 และ 15</a:t>
            </a:r>
          </a:p>
        </p:txBody>
      </p:sp>
    </p:spTree>
    <p:extLst>
      <p:ext uri="{BB962C8B-B14F-4D97-AF65-F5344CB8AC3E}">
        <p14:creationId xmlns:p14="http://schemas.microsoft.com/office/powerpoint/2010/main" val="7752546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9B85604-D8D9-491A-A61D-6DE607B72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02B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4202B"/>
                </a:solidFill>
                <a:latin typeface="Tahoma"/>
                <a:ea typeface="Tahoma"/>
                <a:cs typeface="Tahoma"/>
              </a:rPr>
              <a:t>ผลทดลองครบ 6 รูปแบบ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19125" y="1428750"/>
          <a:ext xmlns:a="http://schemas.openxmlformats.org/drawingml/2006/main" cx="10953750" cy="4191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333625"/>
                <a:gridCol w="1238250"/>
                <a:gridCol w="1571625"/>
                <a:gridCol w="2143125"/>
                <a:gridCol w="1809750"/>
                <a:gridCol w="1857375"/>
              </a:tblGrid>
              <a:tr h="598714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LLM + Retrieval</a:t>
                      </a:r>
                    </a:p>
                  </a:txBody>
                  <a:tcPr marL="91440" marR="91440" marT="45720" marB="45720">
                    <a:solidFill>
                      <a:srgbClr val="1420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สำเร็จ</a:t>
                      </a:r>
                    </a:p>
                  </a:txBody>
                  <a:tcPr marL="91440" marR="91440" marT="45720" marB="45720">
                    <a:solidFill>
                      <a:srgbClr val="1420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เวลาเฉลี่ย</a:t>
                      </a:r>
                    </a:p>
                  </a:txBody>
                  <a:tcPr marL="91440" marR="91440" marT="45720" marB="45720">
                    <a:solidFill>
                      <a:srgbClr val="1420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Source coverage</a:t>
                      </a:r>
                    </a:p>
                  </a:txBody>
                  <a:tcPr marL="91440" marR="91440" marT="45720" marB="45720">
                    <a:solidFill>
                      <a:srgbClr val="1420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Avoid recall</a:t>
                      </a:r>
                    </a:p>
                  </a:txBody>
                  <a:tcPr marL="91440" marR="91440" marT="45720" marB="45720">
                    <a:solidFill>
                      <a:srgbClr val="1420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API cost</a:t>
                      </a:r>
                    </a:p>
                  </a:txBody>
                  <a:tcPr marL="91440" marR="91440" marT="45720" marB="45720">
                    <a:solidFill>
                      <a:srgbClr val="14202B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02B"/>
                          </a:solidFill>
                          <a:latin typeface="Tahoma"/>
                          <a:ea typeface="Tahoma"/>
                          <a:cs typeface="Tahoma"/>
                        </a:rPr>
                        <a:t>local + dense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02B"/>
                          </a:solidFill>
                          <a:latin typeface="Tahoma"/>
                          <a:ea typeface="Tahoma"/>
                          <a:cs typeface="Tahoma"/>
                        </a:rPr>
                        <a:t>20/20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02B"/>
                          </a:solidFill>
                          <a:latin typeface="Tahoma"/>
                          <a:ea typeface="Tahoma"/>
                          <a:cs typeface="Tahoma"/>
                        </a:rPr>
                        <a:t>6.83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02B"/>
                          </a:solidFill>
                          <a:latin typeface="Tahoma"/>
                          <a:ea typeface="Tahoma"/>
                          <a:cs typeface="Tahoma"/>
                        </a:rPr>
                        <a:t>69%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02B"/>
                          </a:solidFill>
                          <a:latin typeface="Tahoma"/>
                          <a:ea typeface="Tahoma"/>
                          <a:cs typeface="Tahoma"/>
                        </a:rPr>
                        <a:t>0%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02B"/>
                          </a:solidFill>
                          <a:latin typeface="Tahoma"/>
                          <a:ea typeface="Tahoma"/>
                          <a:cs typeface="Tahoma"/>
                        </a:rPr>
                        <a:t>—</a:t>
                      </a:r>
                    </a:p>
                  </a:txBody>
                  <a:tcPr marL="91440" marR="91440" marT="45720" marB="45720"/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02B"/>
                          </a:solidFill>
                          <a:latin typeface="Tahoma"/>
                          <a:ea typeface="Tahoma"/>
                          <a:cs typeface="Tahoma"/>
                        </a:rPr>
                        <a:t>local + graph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02B"/>
                          </a:solidFill>
                          <a:latin typeface="Tahoma"/>
                          <a:ea typeface="Tahoma"/>
                          <a:cs typeface="Tahoma"/>
                        </a:rPr>
                        <a:t>20/20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02B"/>
                          </a:solidFill>
                          <a:latin typeface="Tahoma"/>
                          <a:ea typeface="Tahoma"/>
                          <a:cs typeface="Tahoma"/>
                        </a:rPr>
                        <a:t>7.55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02B"/>
                          </a:solidFill>
                          <a:latin typeface="Tahoma"/>
                          <a:ea typeface="Tahoma"/>
                          <a:cs typeface="Tahoma"/>
                        </a:rPr>
                        <a:t>88%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02B"/>
                          </a:solidFill>
                          <a:latin typeface="Tahoma"/>
                          <a:ea typeface="Tahoma"/>
                          <a:cs typeface="Tahoma"/>
                        </a:rPr>
                        <a:t>100%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02B"/>
                          </a:solidFill>
                          <a:latin typeface="Tahoma"/>
                          <a:ea typeface="Tahoma"/>
                          <a:cs typeface="Tahoma"/>
                        </a:rPr>
                        <a:t>—</a:t>
                      </a:r>
                    </a:p>
                  </a:txBody>
                  <a:tcPr marL="91440" marR="91440" marT="45720" marB="45720"/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02B"/>
                          </a:solidFill>
                          <a:latin typeface="Tahoma"/>
                          <a:ea typeface="Tahoma"/>
                          <a:cs typeface="Tahoma"/>
                        </a:rPr>
                        <a:t>local + hybrid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02B"/>
                          </a:solidFill>
                          <a:latin typeface="Tahoma"/>
                          <a:ea typeface="Tahoma"/>
                          <a:cs typeface="Tahoma"/>
                        </a:rPr>
                        <a:t>20/20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02B"/>
                          </a:solidFill>
                          <a:latin typeface="Tahoma"/>
                          <a:ea typeface="Tahoma"/>
                          <a:cs typeface="Tahoma"/>
                        </a:rPr>
                        <a:t>7.91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02B"/>
                          </a:solidFill>
                          <a:latin typeface="Tahoma"/>
                          <a:ea typeface="Tahoma"/>
                          <a:cs typeface="Tahoma"/>
                        </a:rPr>
                        <a:t>96%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02B"/>
                          </a:solidFill>
                          <a:latin typeface="Tahoma"/>
                          <a:ea typeface="Tahoma"/>
                          <a:cs typeface="Tahoma"/>
                        </a:rPr>
                        <a:t>100%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02B"/>
                          </a:solidFill>
                          <a:latin typeface="Tahoma"/>
                          <a:ea typeface="Tahoma"/>
                          <a:cs typeface="Tahoma"/>
                        </a:rPr>
                        <a:t>—</a:t>
                      </a:r>
                    </a:p>
                  </a:txBody>
                  <a:tcPr marL="91440" marR="91440" marT="45720" marB="45720"/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02B"/>
                          </a:solidFill>
                          <a:latin typeface="Tahoma"/>
                          <a:ea typeface="Tahoma"/>
                          <a:cs typeface="Tahoma"/>
                        </a:rPr>
                        <a:t>openrouter + dense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02B"/>
                          </a:solidFill>
                          <a:latin typeface="Tahoma"/>
                          <a:ea typeface="Tahoma"/>
                          <a:cs typeface="Tahoma"/>
                        </a:rPr>
                        <a:t>20/20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02B"/>
                          </a:solidFill>
                          <a:latin typeface="Tahoma"/>
                          <a:ea typeface="Tahoma"/>
                          <a:cs typeface="Tahoma"/>
                        </a:rPr>
                        <a:t>7.26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02B"/>
                          </a:solidFill>
                          <a:latin typeface="Tahoma"/>
                          <a:ea typeface="Tahoma"/>
                          <a:cs typeface="Tahoma"/>
                        </a:rPr>
                        <a:t>69%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02B"/>
                          </a:solidFill>
                          <a:latin typeface="Tahoma"/>
                          <a:ea typeface="Tahoma"/>
                          <a:cs typeface="Tahoma"/>
                        </a:rPr>
                        <a:t>0%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02B"/>
                          </a:solidFill>
                          <a:latin typeface="Tahoma"/>
                          <a:ea typeface="Tahoma"/>
                          <a:cs typeface="Tahoma"/>
                        </a:rPr>
                        <a:t>$0.0234</a:t>
                      </a:r>
                    </a:p>
                  </a:txBody>
                  <a:tcPr marL="91440" marR="91440" marT="45720" marB="45720"/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02B"/>
                          </a:solidFill>
                          <a:latin typeface="Tahoma"/>
                          <a:ea typeface="Tahoma"/>
                          <a:cs typeface="Tahoma"/>
                        </a:rPr>
                        <a:t>openrouter + graph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02B"/>
                          </a:solidFill>
                          <a:latin typeface="Tahoma"/>
                          <a:ea typeface="Tahoma"/>
                          <a:cs typeface="Tahoma"/>
                        </a:rPr>
                        <a:t>20/20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02B"/>
                          </a:solidFill>
                          <a:latin typeface="Tahoma"/>
                          <a:ea typeface="Tahoma"/>
                          <a:cs typeface="Tahoma"/>
                        </a:rPr>
                        <a:t>7.28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02B"/>
                          </a:solidFill>
                          <a:latin typeface="Tahoma"/>
                          <a:ea typeface="Tahoma"/>
                          <a:cs typeface="Tahoma"/>
                        </a:rPr>
                        <a:t>88%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02B"/>
                          </a:solidFill>
                          <a:latin typeface="Tahoma"/>
                          <a:ea typeface="Tahoma"/>
                          <a:cs typeface="Tahoma"/>
                        </a:rPr>
                        <a:t>100%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02B"/>
                          </a:solidFill>
                          <a:latin typeface="Tahoma"/>
                          <a:ea typeface="Tahoma"/>
                          <a:cs typeface="Tahoma"/>
                        </a:rPr>
                        <a:t>$0.0240</a:t>
                      </a:r>
                    </a:p>
                  </a:txBody>
                  <a:tcPr marL="91440" marR="91440" marT="45720" marB="45720"/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02B"/>
                          </a:solidFill>
                          <a:latin typeface="Tahoma"/>
                          <a:ea typeface="Tahoma"/>
                          <a:cs typeface="Tahoma"/>
                        </a:rPr>
                        <a:t>openrouter + hybrid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02B"/>
                          </a:solidFill>
                          <a:latin typeface="Tahoma"/>
                          <a:ea typeface="Tahoma"/>
                          <a:cs typeface="Tahoma"/>
                        </a:rPr>
                        <a:t>20/20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02B"/>
                          </a:solidFill>
                          <a:latin typeface="Tahoma"/>
                          <a:ea typeface="Tahoma"/>
                          <a:cs typeface="Tahoma"/>
                        </a:rPr>
                        <a:t>7.35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02B"/>
                          </a:solidFill>
                          <a:latin typeface="Tahoma"/>
                          <a:ea typeface="Tahoma"/>
                          <a:cs typeface="Tahoma"/>
                        </a:rPr>
                        <a:t>96%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02B"/>
                          </a:solidFill>
                          <a:latin typeface="Tahoma"/>
                          <a:ea typeface="Tahoma"/>
                          <a:cs typeface="Tahoma"/>
                        </a:rPr>
                        <a:t>100%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02B"/>
                          </a:solidFill>
                          <a:latin typeface="Tahoma"/>
                          <a:ea typeface="Tahoma"/>
                          <a:cs typeface="Tahoma"/>
                        </a:rPr>
                        <a:t>$0.0247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3" name="result-foot">
            <a:extLst xmlns:a="http://schemas.openxmlformats.org/drawingml/2006/main">
              <a:ext uri="{FF2B5EF4-FFF2-40B4-BE49-F238E27FC236}">
                <a16:creationId xmlns:a16="http://schemas.microsoft.com/office/drawing/2014/main" id="{B01F40A2-5089-4E42-923A-5C7906B9A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56675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56675"/>
                </a:solidFill>
                <a:latin typeface="Tahoma"/>
                <a:ea typeface="Tahoma"/>
                <a:cs typeface="Tahoma"/>
              </a:rPr>
              <a:t>Coverage วัดหน้าที่ค้นพบ; ความถูกต้องของคำตอบต้องตรวจด้วยคน</a:t>
            </a:r>
          </a:p>
        </p:txBody>
      </p:sp>
    </p:spTree>
    <p:extLst>
      <p:ext uri="{BB962C8B-B14F-4D97-AF65-F5344CB8AC3E}">
        <p14:creationId xmlns:p14="http://schemas.microsoft.com/office/powerpoint/2010/main" val="7061005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137A4D9-793D-4A7C-9F7A-A5F9F7A78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02B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4202B"/>
                </a:solidFill>
                <a:latin typeface="Tahoma"/>
                <a:ea typeface="Tahoma"/>
                <a:cs typeface="Tahoma"/>
              </a:rPr>
              <a:t>ข้อจำกัดที่ต้องเปิดเผย</a:t>
            </a:r>
          </a:p>
        </p:txBody>
      </p:sp>
      <p:sp>
        <p:nvSpPr>
          <p:cNvPr id="2" name="limit-1">
            <a:extLst xmlns:a="http://schemas.openxmlformats.org/drawingml/2006/main">
              <a:ext uri="{FF2B5EF4-FFF2-40B4-BE49-F238E27FC236}">
                <a16:creationId xmlns:a16="http://schemas.microsoft.com/office/drawing/2014/main" id="{E1A3FD12-DE28-435C-9F3C-3FC4D766C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85900"/>
            <a:ext cx="105727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02B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14202B"/>
                </a:solidFill>
                <a:latin typeface="Tahoma"/>
                <a:ea typeface="Tahoma"/>
                <a:cs typeface="Tahoma"/>
              </a:rPr>
              <a:t>ผลรอบ Graph/Hybrid ใช้ Neo4j สด 80/80 รอบ</a:t>
            </a:r>
          </a:p>
          <a:p xmlns:a="http://schemas.openxmlformats.org/drawingml/2006/main">
            <a:pPr>
              <a:defRPr sz="2100" b="0">
                <a:solidFill>
                  <a:srgbClr val="14202B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14202B"/>
                </a:solidFill>
                <a:latin typeface="Tahoma"/>
                <a:ea typeface="Tahoma"/>
                <a:cs typeface="Tahoma"/>
              </a:rPr>
              <a:t>กราฟฟิตเนสแยกด้วย project_id ไม่ปะปนกับโปรเจกต์อื่น</a:t>
            </a:r>
          </a:p>
        </p:txBody>
      </p:sp>
      <p:sp>
        <p:nvSpPr>
          <p:cNvPr id="3" name="limit-2">
            <a:extLst xmlns:a="http://schemas.openxmlformats.org/drawingml/2006/main">
              <a:ext uri="{FF2B5EF4-FFF2-40B4-BE49-F238E27FC236}">
                <a16:creationId xmlns:a16="http://schemas.microsoft.com/office/drawing/2014/main" id="{B03504D5-2B3F-4A8C-B758-53120B18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5755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02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4202B"/>
                </a:solidFill>
                <a:latin typeface="Tahoma"/>
                <a:ea typeface="Tahoma"/>
                <a:cs typeface="Tahoma"/>
              </a:rPr>
              <a:t>กฎ AVOID/RECOMMEND ในกราฟต้องตรวจหลักฐานและให้ผู้เชี่ยวชาญพิจารณา</a:t>
            </a:r>
          </a:p>
        </p:txBody>
      </p:sp>
      <p:sp>
        <p:nvSpPr>
          <p:cNvPr id="4" name="limit-3">
            <a:extLst xmlns:a="http://schemas.openxmlformats.org/drawingml/2006/main">
              <a:ext uri="{FF2B5EF4-FFF2-40B4-BE49-F238E27FC236}">
                <a16:creationId xmlns:a16="http://schemas.microsoft.com/office/drawing/2014/main" id="{78D8FE2A-3574-4CB4-91C4-CF6A8EC59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2440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B34646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B34646"/>
                </a:solidFill>
                <a:latin typeface="Tahoma"/>
                <a:ea typeface="Tahoma"/>
                <a:cs typeface="Tahoma"/>
              </a:rPr>
              <a:t>รันครบ 120/120 แต่ตัวชี้วัดค้นหาไม่แทนการตรวจความถูกต้องของคำตอบ</a:t>
            </a:r>
          </a:p>
        </p:txBody>
      </p:sp>
    </p:spTree>
    <p:extLst>
      <p:ext uri="{BB962C8B-B14F-4D97-AF65-F5344CB8AC3E}">
        <p14:creationId xmlns:p14="http://schemas.microsoft.com/office/powerpoint/2010/main" val="11927215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4B083B4E-42C1-4654-9816-D3E01BDD3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02B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4202B"/>
                </a:solidFill>
                <a:latin typeface="Tahoma"/>
                <a:ea typeface="Tahoma"/>
                <a:cs typeface="Tahoma"/>
              </a:rPr>
              <a:t>ลำดับสาธิต</a:t>
            </a:r>
          </a:p>
        </p:txBody>
      </p:sp>
      <p:sp>
        <p:nvSpPr>
          <p:cNvPr id="2" name="demo-1">
            <a:extLst xmlns:a="http://schemas.openxmlformats.org/drawingml/2006/main">
              <a:ext uri="{FF2B5EF4-FFF2-40B4-BE49-F238E27FC236}">
                <a16:creationId xmlns:a16="http://schemas.microsoft.com/office/drawing/2014/main" id="{848364DB-E823-4D91-8956-4F999769C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02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4202B"/>
                </a:solidFill>
                <a:latin typeface="Tahoma"/>
                <a:ea typeface="Tahoma"/>
                <a:cs typeface="Tahoma"/>
              </a:rPr>
              <a:t>1  ถามวิธีเล่นเครื่อง และดูหน้าอ้างอิงกับรูปภาพ</a:t>
            </a:r>
          </a:p>
        </p:txBody>
      </p:sp>
      <p:sp>
        <p:nvSpPr>
          <p:cNvPr id="3" name="demo-2">
            <a:extLst xmlns:a="http://schemas.openxmlformats.org/drawingml/2006/main">
              <a:ext uri="{FF2B5EF4-FFF2-40B4-BE49-F238E27FC236}">
                <a16:creationId xmlns:a16="http://schemas.microsoft.com/office/drawing/2014/main" id="{CC25E986-A654-413F-826C-80FB98E74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3842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02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4202B"/>
                </a:solidFill>
                <a:latin typeface="Tahoma"/>
                <a:ea typeface="Tahoma"/>
                <a:cs typeface="Tahoma"/>
              </a:rPr>
              <a:t>2  ถามเงื่อนไขที่มี AVOID แล้วดูผลจากกราฟ</a:t>
            </a:r>
          </a:p>
        </p:txBody>
      </p:sp>
      <p:sp>
        <p:nvSpPr>
          <p:cNvPr id="4" name="demo-3">
            <a:extLst xmlns:a="http://schemas.openxmlformats.org/drawingml/2006/main">
              <a:ext uri="{FF2B5EF4-FFF2-40B4-BE49-F238E27FC236}">
                <a16:creationId xmlns:a16="http://schemas.microsoft.com/office/drawing/2014/main" id="{1EFB34FF-1220-4794-A91C-D781CE882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7190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02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4202B"/>
                </a:solidFill>
                <a:latin typeface="Tahoma"/>
                <a:ea typeface="Tahoma"/>
                <a:cs typeface="Tahoma"/>
              </a:rPr>
              <a:t>3  สลับ Local/API และเปิดตารางผลประเมินจริง</a:t>
            </a:r>
          </a:p>
        </p:txBody>
      </p:sp>
      <p:sp>
        <p:nvSpPr>
          <p:cNvPr id="5" name="demo-note">
            <a:extLst xmlns:a="http://schemas.openxmlformats.org/drawingml/2006/main">
              <a:ext uri="{FF2B5EF4-FFF2-40B4-BE49-F238E27FC236}">
                <a16:creationId xmlns:a16="http://schemas.microsoft.com/office/drawing/2014/main" id="{C0FA9C3A-3063-4E31-8DE6-39485888D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91125"/>
            <a:ext cx="1038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6675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556675"/>
                </a:solidFill>
                <a:latin typeface="Tahoma"/>
                <a:ea typeface="Tahoma"/>
                <a:cs typeface="Tahoma"/>
              </a:rPr>
              <a:t>ก่อนส่งงาน: ตรวจคำตอบใน human_review.csv และให้ผู้เชี่ยวชาญตรวจคำแนะนำด้านสุขภาพ</a:t>
            </a:r>
          </a:p>
        </p:txBody>
      </p:sp>
    </p:spTree>
    <p:extLst>
      <p:ext uri="{BB962C8B-B14F-4D97-AF65-F5344CB8AC3E}">
        <p14:creationId xmlns:p14="http://schemas.microsoft.com/office/powerpoint/2010/main" val="9894565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2026-09-27T16:35:42.3250000Z</dcterms:created>
  <dcterms:modified xsi:type="dcterms:W3CDTF">2026-09-27T16:35:42.3250000Z</dcterms:modified>
</coreProperties>
</file>